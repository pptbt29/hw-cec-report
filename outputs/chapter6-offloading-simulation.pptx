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f191ddc7fd431e" /><Relationship Type="http://schemas.openxmlformats.org/officeDocument/2006/relationships/extended-properties" Target="/docProps/app.xml" Id="R1f749bc8d1784bd9" /><Relationship Type="http://schemas.openxmlformats.org/officeDocument/2006/relationships/officeDocument" Target="/ppt/presentation.xml" Id="Rd122505fd3b6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df90ce688c42bc"/>
  </p:sldMasterIdLst>
  <p:notesMasterIdLst>
    <p:notesMasterId xmlns:r="http://schemas.openxmlformats.org/officeDocument/2006/relationships" r:id="Re310a0dca0ce414c"/>
  </p:notesMasterIdLst>
  <p:sldIdLst>
    <p:sldId xmlns:r="http://schemas.openxmlformats.org/officeDocument/2006/relationships" id="256" r:id="R7b1905d6db3443c5"/>
    <p:sldId xmlns:r="http://schemas.openxmlformats.org/officeDocument/2006/relationships" id="257" r:id="Rbd5fb6fbdddb461b"/>
    <p:sldId xmlns:r="http://schemas.openxmlformats.org/officeDocument/2006/relationships" id="258" r:id="R07078806e1224c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82eb75d5e4d94" /><Relationship Type="http://schemas.openxmlformats.org/officeDocument/2006/relationships/slideMaster" Target="/ppt/slideMasters/slideMaster1.xml" Id="R8bdf90ce688c42bc" /><Relationship Type="http://schemas.openxmlformats.org/officeDocument/2006/relationships/notesMaster" Target="/ppt/notesMasters/notesMaster1.xml" Id="Re310a0dca0ce414c" /><Relationship Type="http://schemas.openxmlformats.org/officeDocument/2006/relationships/presProps" Target="/ppt/presProps.xml" Id="Ref5bd7f03a654f7e" /><Relationship Type="http://schemas.openxmlformats.org/officeDocument/2006/relationships/tableStyles" Target="/ppt/tableStyles.xml" Id="R8bbbc176d7b4463a" /><Relationship Type="http://schemas.openxmlformats.org/officeDocument/2006/relationships/slide" Target="/ppt/slides/slide1.xml" Id="R7b1905d6db3443c5" /><Relationship Type="http://schemas.openxmlformats.org/officeDocument/2006/relationships/slide" Target="/ppt/slides/slide2.xml" Id="Rbd5fb6fbdddb461b" /><Relationship Type="http://schemas.openxmlformats.org/officeDocument/2006/relationships/slide" Target="/ppt/slides/slide3.xml" Id="R07078806e1224c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c3f12ccdf6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a8179798a4630" /><Relationship Type="http://schemas.openxmlformats.org/officeDocument/2006/relationships/notesMaster" Target="/ppt/notesMasters/notesMaster1.xml" Id="Rcb76d8e06fb4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d867ce9c6435d" /><Relationship Type="http://schemas.openxmlformats.org/officeDocument/2006/relationships/notesMaster" Target="/ppt/notesMasters/notesMaster1.xml" Id="R732cf4c885254e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3892e5a0504ab8" /><Relationship Type="http://schemas.openxmlformats.org/officeDocument/2006/relationships/notesMaster" Target="/ppt/notesMasters/notesMaster1.xml" Id="R86d99eb068dd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adad67944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158215655456f" /><Relationship Type="http://schemas.openxmlformats.org/officeDocument/2006/relationships/slideLayout" Target="/ppt/slideLayouts/slideLayout1.xml" Id="R6ec915aaed05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c915aaed05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6ea3eca1343b8" /><Relationship Type="http://schemas.openxmlformats.org/officeDocument/2006/relationships/notesSlide" Target="/ppt/notesSlides/notesSlide1.xml" Id="R86c63f2ab74b49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81ddea1c4a34" /><Relationship Type="http://schemas.openxmlformats.org/officeDocument/2006/relationships/notesSlide" Target="/ppt/notesSlides/notesSlide2.xml" Id="R0763c8ffe036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23d2e9524956" /><Relationship Type="http://schemas.openxmlformats.org/officeDocument/2006/relationships/chart" Target="/ppt/slides/charts/chart1.xml" Id="Rf0faeced69174721" /><Relationship Type="http://schemas.openxmlformats.org/officeDocument/2006/relationships/notesSlide" Target="/ppt/notesSlides/notesSlide3.xml" Id="Rd1712af7a8ad48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就近执行@基础并发</c:v>
          </c:tx>
          <c:spPr>
            <a:solidFill xmlns:a="http://schemas.openxmlformats.org/drawingml/2006/main">
              <a:srgbClr val="AEB4BE"/>
            </a:solidFill>
          </c:spPr>
          <c:cat>
            <c:strLit>
              <c:ptCount val="2"/>
              <c:pt idx="0">
                <c:v>CodeLlama34B</c:v>
              </c:pt>
              <c:pt idx="1">
                <c:v>Qwen2-VL-7B</c:v>
              </c:pt>
            </c:strLit>
          </c:cat>
          <c:val>
            <c:numLit>
              <c:formatCode>General</c:formatCode>
              <c:ptCount val="2"/>
              <c:pt idx="0">
                <c:v>241.32</c:v>
              </c:pt>
              <c:pt idx="1">
                <c:v>252.78</c:v>
              </c:pt>
            </c:numLit>
          </c:val>
        </c:ser>
        <c:ser>
          <c:idx val="1"/>
          <c:order val="1"/>
          <c:tx>
            <c:v>单请求穷举+KV@150%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CodeLlama34B</c:v>
              </c:pt>
              <c:pt idx="1">
                <c:v>Qwen2-VL-7B</c:v>
              </c:pt>
            </c:strLit>
          </c:cat>
          <c:val>
            <c:numLit>
              <c:formatCode>General</c:formatCode>
              <c:ptCount val="2"/>
              <c:pt idx="0">
                <c:v>193.9</c:v>
              </c:pt>
              <c:pt idx="1">
                <c:v>193.7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1-title">
            <a:extLst xmlns:a="http://schemas.openxmlformats.org/drawingml/2006/main">
              <a:ext uri="{FF2B5EF4-FFF2-40B4-BE49-F238E27FC236}">
                <a16:creationId xmlns:a16="http://schemas.microsoft.com/office/drawing/2014/main" id="{11FA6C51-1DD2-466E-91EB-DA47FA2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就近执行忽略负载与状态位置，单请求穷举补齐当前决策</a:t>
            </a:r>
          </a:p>
        </p:txBody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579CD751-3DC9-4D0C-B5AA-911832E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挑战不是“离用户最近”，而是同时决定请求去哪里算、历史 KV 如何获得。</a:t>
            </a:r>
          </a:p>
        </p:txBody>
      </p:sp>
      <p:cxnSp>
        <p:nvCxnSpPr>
          <p:cNvPr id="24" name="s1-timeline"/>
          <p:cNvCxnSpPr/>
          <p:nvPr/>
        </p:nvCxnSpPr>
        <p:spPr>
          <a:xfrm xmlns:a="http://schemas.openxmlformats.org/drawingml/2006/main">
            <a:off x="438150" y="3190875"/>
            <a:ext cx="11220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5" name="s1-step12"/>
          <p:cNvCxnSpPr/>
          <p:nvPr/>
        </p:nvCxnSpPr>
        <p:spPr>
          <a:xfrm xmlns:a="http://schemas.openxmlformats.org/drawingml/2006/main">
            <a:off x="3524250" y="3190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6" name="s1-step23"/>
          <p:cNvCxnSpPr/>
          <p:nvPr/>
        </p:nvCxnSpPr>
        <p:spPr>
          <a:xfrm xmlns:a="http://schemas.openxmlformats.org/drawingml/2006/main">
            <a:off x="7448550" y="3190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6" name="s1-node-0">
            <a:extLst xmlns:a="http://schemas.openxmlformats.org/drawingml/2006/main">
              <a:ext uri="{FF2B5EF4-FFF2-40B4-BE49-F238E27FC236}">
                <a16:creationId xmlns:a16="http://schemas.microsoft.com/office/drawing/2014/main" id="{8E8B7C4D-3D38-4962-AE13-AFFBD16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s1-label-0">
            <a:extLst xmlns:a="http://schemas.openxmlformats.org/drawingml/2006/main">
              <a:ext uri="{FF2B5EF4-FFF2-40B4-BE49-F238E27FC236}">
                <a16:creationId xmlns:a16="http://schemas.microsoft.com/office/drawing/2014/main" id="{0DF5410D-B71F-41F0-8BA7-29B21077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场景挑战</a:t>
            </a:r>
          </a:p>
        </p:txBody>
      </p:sp>
      <p:sp>
        <p:nvSpPr>
          <p:cNvPr id="8" name="s1-head-0">
            <a:extLst xmlns:a="http://schemas.openxmlformats.org/drawingml/2006/main">
              <a:ext uri="{FF2B5EF4-FFF2-40B4-BE49-F238E27FC236}">
                <a16:creationId xmlns:a16="http://schemas.microsoft.com/office/drawing/2014/main" id="{C459AB71-F933-4428-92B8-8FF541D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入口、负载与 KV 位置同时变化</a:t>
            </a:r>
          </a:p>
        </p:txBody>
      </p:sp>
      <p:sp>
        <p:nvSpPr>
          <p:cNvPr id="9" name="s1-body-0">
            <a:extLst xmlns:a="http://schemas.openxmlformats.org/drawingml/2006/main">
              <a:ext uri="{FF2B5EF4-FFF2-40B4-BE49-F238E27FC236}">
                <a16:creationId xmlns:a16="http://schemas.microsoft.com/office/drawing/2014/main" id="{D74EDB8C-D2BB-485C-B2B3-417CEBA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3219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用户移动改变入口；节点队列并不均衡；历史 KV 仍可能留在旧节点。最低网络距离不等于最低端到端时延。</a:t>
            </a:r>
          </a:p>
        </p:txBody>
      </p:sp>
      <p:sp>
        <p:nvSpPr>
          <p:cNvPr id="10" name="s1-node-1">
            <a:extLst xmlns:a="http://schemas.openxmlformats.org/drawingml/2006/main">
              <a:ext uri="{FF2B5EF4-FFF2-40B4-BE49-F238E27FC236}">
                <a16:creationId xmlns:a16="http://schemas.microsoft.com/office/drawing/2014/main" id="{30F49714-3B35-49E8-88C4-F6FE79D5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s1-label-1">
            <a:extLst xmlns:a="http://schemas.openxmlformats.org/drawingml/2006/main">
              <a:ext uri="{FF2B5EF4-FFF2-40B4-BE49-F238E27FC236}">
                <a16:creationId xmlns:a16="http://schemas.microsoft.com/office/drawing/2014/main" id="{4C577B1B-6A6C-4845-A24F-EF67051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基线缺陷</a:t>
            </a:r>
          </a:p>
        </p:txBody>
      </p:sp>
      <p:sp>
        <p:nvSpPr>
          <p:cNvPr id="12" name="s1-head-1">
            <a:extLst xmlns:a="http://schemas.openxmlformats.org/drawingml/2006/main">
              <a:ext uri="{FF2B5EF4-FFF2-40B4-BE49-F238E27FC236}">
                <a16:creationId xmlns:a16="http://schemas.microsoft.com/office/drawing/2014/main" id="{EB40E284-189E-4B79-87DF-DD20FE2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就近执行把请求锁在入口</a:t>
            </a:r>
          </a:p>
        </p:txBody>
      </p:sp>
      <p:sp>
        <p:nvSpPr>
          <p:cNvPr id="13" name="s1-body-1">
            <a:extLst xmlns:a="http://schemas.openxmlformats.org/drawingml/2006/main">
              <a:ext uri="{FF2B5EF4-FFF2-40B4-BE49-F238E27FC236}">
                <a16:creationId xmlns:a16="http://schemas.microsoft.com/office/drawing/2014/main" id="{ECB6F276-DC99-4E43-9CCC-E042965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8150"/>
            <a:ext cx="3219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入口拥塞时继续排队；KV 不在本地时还需同步或重算；远端空闲节点即使更快也不会被选择。</a:t>
            </a:r>
          </a:p>
        </p:txBody>
      </p:sp>
      <p:sp>
        <p:nvSpPr>
          <p:cNvPr id="14" name="s1-node-2">
            <a:extLst xmlns:a="http://schemas.openxmlformats.org/drawingml/2006/main">
              <a:ext uri="{FF2B5EF4-FFF2-40B4-BE49-F238E27FC236}">
                <a16:creationId xmlns:a16="http://schemas.microsoft.com/office/drawing/2014/main" id="{BB32D27C-A57B-4C36-9041-91B08BA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s1-label-2">
            <a:extLst xmlns:a="http://schemas.openxmlformats.org/drawingml/2006/main">
              <a:ext uri="{FF2B5EF4-FFF2-40B4-BE49-F238E27FC236}">
                <a16:creationId xmlns:a16="http://schemas.microsoft.com/office/drawing/2014/main" id="{78E612A0-C960-4959-9534-A06CE26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设计一</a:t>
            </a:r>
          </a:p>
        </p:txBody>
      </p:sp>
      <p:sp>
        <p:nvSpPr>
          <p:cNvPr id="16" name="s1-head-2">
            <a:extLst xmlns:a="http://schemas.openxmlformats.org/drawingml/2006/main">
              <a:ext uri="{FF2B5EF4-FFF2-40B4-BE49-F238E27FC236}">
                <a16:creationId xmlns:a16="http://schemas.microsoft.com/office/drawing/2014/main" id="{FCB1CCA1-AC75-4F80-9DEF-94F10A09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单请求穷举所有可行动作</a:t>
            </a:r>
          </a:p>
        </p:txBody>
      </p:sp>
      <p:sp>
        <p:nvSpPr>
          <p:cNvPr id="17" name="s1-body-2">
            <a:extLst xmlns:a="http://schemas.openxmlformats.org/drawingml/2006/main">
              <a:ext uri="{FF2B5EF4-FFF2-40B4-BE49-F238E27FC236}">
                <a16:creationId xmlns:a16="http://schemas.microsoft.com/office/drawing/2014/main" id="{C5890547-23B5-4E2B-9CCA-62A5232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219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枚举“节点 × reuse/sync/recompute”，统一估计转发、排队、状态恢复、prefill/decode 与结果返回，选择当前 E2E 最小的动作。</a:t>
            </a:r>
          </a:p>
        </p:txBody>
      </p:sp>
      <p:sp>
        <p:nvSpPr>
          <p:cNvPr id="18" name="s1-transition">
            <a:extLst xmlns:a="http://schemas.openxmlformats.org/drawingml/2006/main">
              <a:ext uri="{FF2B5EF4-FFF2-40B4-BE49-F238E27FC236}">
                <a16:creationId xmlns:a16="http://schemas.microsoft.com/office/drawing/2014/main" id="{59F9FB06-1D83-4E9B-8839-3602E13F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transition-text">
            <a:extLst xmlns:a="http://schemas.openxmlformats.org/drawingml/2006/main">
              <a:ext uri="{FF2B5EF4-FFF2-40B4-BE49-F238E27FC236}">
                <a16:creationId xmlns:a16="http://schemas.microsoft.com/office/drawing/2014/main" id="{2FA74F57-9936-4BC1-813A-08B5A030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rPr>
              <a:t>新的短板：只优化当前请求，但本轮执行节点会决定新增 KV 在哪里增长，并改变后续多轮成本。</a:t>
            </a:r>
          </a:p>
        </p:txBody>
      </p:sp>
      <p:sp>
        <p:nvSpPr>
          <p:cNvPr id="20" name="source-1">
            <a:extLst xmlns:a="http://schemas.openxmlformats.org/drawingml/2006/main">
              <a:ext uri="{FF2B5EF4-FFF2-40B4-BE49-F238E27FC236}">
                <a16:creationId xmlns:a16="http://schemas.microsoft.com/office/drawing/2014/main" id="{E3EDC563-5D8E-441D-B71B-A9D69DA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第六章｜长期成本感知的请求卸载</a:t>
            </a:r>
          </a:p>
        </p:txBody>
      </p:sp>
      <p:sp>
        <p:nvSpPr>
          <p:cNvPr id="21" name="page-1">
            <a:extLst xmlns:a="http://schemas.openxmlformats.org/drawingml/2006/main">
              <a:ext uri="{FF2B5EF4-FFF2-40B4-BE49-F238E27FC236}">
                <a16:creationId xmlns:a16="http://schemas.microsoft.com/office/drawing/2014/main" id="{76794D96-56E4-4C99-8223-77A790F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0897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2-title">
            <a:extLst xmlns:a="http://schemas.openxmlformats.org/drawingml/2006/main">
              <a:ext uri="{FF2B5EF4-FFF2-40B4-BE49-F238E27FC236}">
                <a16:creationId xmlns:a16="http://schemas.microsoft.com/office/drawing/2014/main" id="{C5D8FC85-A8E7-4334-BA62-F76BC1B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KV 预放置降低切换门槛，长期价值决定何时提前切换</a:t>
            </a:r>
          </a:p>
        </p:txBody>
      </p:sp>
      <p:sp>
        <p:nvSpPr>
          <p:cNvPr id="2" name="s2-kicker">
            <a:extLst xmlns:a="http://schemas.openxmlformats.org/drawingml/2006/main">
              <a:ext uri="{FF2B5EF4-FFF2-40B4-BE49-F238E27FC236}">
                <a16:creationId xmlns:a16="http://schemas.microsoft.com/office/drawing/2014/main" id="{48D77011-C66C-4CEC-8C64-DF8D6832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当状态恢复不再压倒其他成本，跨请求的执行位置选择才真正产生优化空间。</a:t>
            </a:r>
          </a:p>
        </p:txBody>
      </p:sp>
      <p:cxnSp>
        <p:nvCxnSpPr>
          <p:cNvPr id="29" name="s2-process-line"/>
          <p:cNvCxnSpPr/>
          <p:nvPr/>
        </p:nvCxnSpPr>
        <p:spPr>
          <a:xfrm xmlns:a="http://schemas.openxmlformats.org/drawingml/2006/main">
            <a:off x="457200" y="55626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0" name="s2-ab-line"/>
          <p:cNvCxnSpPr/>
          <p:nvPr/>
        </p:nvCxnSpPr>
        <p:spPr>
          <a:xfrm xmlns:a="http://schemas.openxmlformats.org/drawingml/2006/main">
            <a:off x="8972550" y="3857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s2-card-0">
            <a:extLst xmlns:a="http://schemas.openxmlformats.org/drawingml/2006/main">
              <a:ext uri="{FF2B5EF4-FFF2-40B4-BE49-F238E27FC236}">
                <a16:creationId xmlns:a16="http://schemas.microsoft.com/office/drawing/2014/main" id="{FF9F7F2D-C185-4DD2-B765-7B50B534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814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card-title-0">
            <a:extLst xmlns:a="http://schemas.openxmlformats.org/drawingml/2006/main">
              <a:ext uri="{FF2B5EF4-FFF2-40B4-BE49-F238E27FC236}">
                <a16:creationId xmlns:a16="http://schemas.microsoft.com/office/drawing/2014/main" id="{744C41CA-DF62-4B61-B040-867694E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新瓶颈｜状态恢复进入关键路径</a:t>
            </a:r>
          </a:p>
        </p:txBody>
      </p:sp>
      <p:sp>
        <p:nvSpPr>
          <p:cNvPr id="7" name="s2-card-body-0">
            <a:extLst xmlns:a="http://schemas.openxmlformats.org/drawingml/2006/main">
              <a:ext uri="{FF2B5EF4-FFF2-40B4-BE49-F238E27FC236}">
                <a16:creationId xmlns:a16="http://schemas.microsoft.com/office/drawing/2014/main" id="{06F1AAEA-A66C-4ED3-B06A-ECB7DA7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04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负载均衡或用户移动会把请求送到其他节点；目标节点缺失历史 KV prefix 时，必须执行同步或 prefill 重建。GB 级状态恢复可能抵消排队与请求转发带来的全部收益。</a:t>
            </a:r>
          </a:p>
        </p:txBody>
      </p:sp>
      <p:sp>
        <p:nvSpPr>
          <p:cNvPr id="8" name="s2-card-1">
            <a:extLst xmlns:a="http://schemas.openxmlformats.org/drawingml/2006/main">
              <a:ext uri="{FF2B5EF4-FFF2-40B4-BE49-F238E27FC236}">
                <a16:creationId xmlns:a16="http://schemas.microsoft.com/office/drawing/2014/main" id="{88645BBC-E06E-4CA7-B454-7AF194E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5814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card-title-1">
            <a:extLst xmlns:a="http://schemas.openxmlformats.org/drawingml/2006/main">
              <a:ext uri="{FF2B5EF4-FFF2-40B4-BE49-F238E27FC236}">
                <a16:creationId xmlns:a16="http://schemas.microsoft.com/office/drawing/2014/main" id="{E6551DF2-3B62-41C8-8D89-EE82025E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rPr>
              <a:t>设计二｜KV Manager 后台预放置</a:t>
            </a:r>
          </a:p>
        </p:txBody>
      </p:sp>
      <p:sp>
        <p:nvSpPr>
          <p:cNvPr id="10" name="s2-card-body-1">
            <a:extLst xmlns:a="http://schemas.openxmlformats.org/drawingml/2006/main">
              <a:ext uri="{FF2B5EF4-FFF2-40B4-BE49-F238E27FC236}">
                <a16:creationId xmlns:a16="http://schemas.microsoft.com/office/drawing/2014/main" id="{B0BCB669-BA95-4388-8E0F-760D327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04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请求完成后，依据入口转移概率与 session 活跃度，利用后台带宽增量复制候选节点缺失的连续 prefix。真正切换时只恢复 residual KV，把 state latency 降到与排队、转发相近的量级。</a:t>
            </a:r>
          </a:p>
        </p:txBody>
      </p:sp>
      <p:sp>
        <p:nvSpPr>
          <p:cNvPr id="11" name="s2-card-2">
            <a:extLst xmlns:a="http://schemas.openxmlformats.org/drawingml/2006/main">
              <a:ext uri="{FF2B5EF4-FFF2-40B4-BE49-F238E27FC236}">
                <a16:creationId xmlns:a16="http://schemas.microsoft.com/office/drawing/2014/main" id="{7C6C60AC-9CA9-4E3C-AE26-F237E99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5814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card-title-2">
            <a:extLst xmlns:a="http://schemas.openxmlformats.org/drawingml/2006/main">
              <a:ext uri="{FF2B5EF4-FFF2-40B4-BE49-F238E27FC236}">
                <a16:creationId xmlns:a16="http://schemas.microsoft.com/office/drawing/2014/main" id="{C760A955-1DE4-476C-830B-09CF41C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新的边界｜长期价值</a:t>
            </a:r>
          </a:p>
        </p:txBody>
      </p:sp>
      <p:sp>
        <p:nvSpPr>
          <p:cNvPr id="13" name="s2-card-body-2">
            <a:extLst xmlns:a="http://schemas.openxmlformats.org/drawingml/2006/main">
              <a:ext uri="{FF2B5EF4-FFF2-40B4-BE49-F238E27FC236}">
                <a16:creationId xmlns:a16="http://schemas.microsoft.com/office/drawing/2014/main" id="{313C3FE8-4D92-4E24-BD52-E8EA2EC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此时当前最优不再等于 session 最优。长期 Router 需要联合评估当前动作产生的新 KV 位置，以及未来多轮转发、排队与状态恢复成本。</a:t>
            </a:r>
          </a:p>
        </p:txBody>
      </p:sp>
      <p:sp>
        <p:nvSpPr>
          <p:cNvPr id="14" name="s2-a-node">
            <a:extLst xmlns:a="http://schemas.openxmlformats.org/drawingml/2006/main">
              <a:ext uri="{FF2B5EF4-FFF2-40B4-BE49-F238E27FC236}">
                <a16:creationId xmlns:a16="http://schemas.microsoft.com/office/drawing/2014/main" id="{C290B825-FBFF-4B08-AA1B-48C3DEC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s2-b-node">
            <a:extLst xmlns:a="http://schemas.openxmlformats.org/drawingml/2006/main">
              <a:ext uri="{FF2B5EF4-FFF2-40B4-BE49-F238E27FC236}">
                <a16:creationId xmlns:a16="http://schemas.microsoft.com/office/drawing/2014/main" id="{A7383FD3-59A7-4FA6-A766-FA8761B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s2-a">
            <a:extLst xmlns:a="http://schemas.openxmlformats.org/drawingml/2006/main">
              <a:ext uri="{FF2B5EF4-FFF2-40B4-BE49-F238E27FC236}">
                <a16:creationId xmlns:a16="http://schemas.microsoft.com/office/drawing/2014/main" id="{0553FB3E-476E-42B4-8802-5E64289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7" name="s2-b">
            <a:extLst xmlns:a="http://schemas.openxmlformats.org/drawingml/2006/main">
              <a:ext uri="{FF2B5EF4-FFF2-40B4-BE49-F238E27FC236}">
                <a16:creationId xmlns:a16="http://schemas.microsoft.com/office/drawing/2014/main" id="{EF382EC3-EA56-4C9D-89CB-07AB530E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33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8" name="s2-example">
            <a:extLst xmlns:a="http://schemas.openxmlformats.org/drawingml/2006/main">
              <a:ext uri="{FF2B5EF4-FFF2-40B4-BE49-F238E27FC236}">
                <a16:creationId xmlns:a16="http://schemas.microsoft.com/office/drawing/2014/main" id="{E7A437D3-61CB-4012-AF5B-D96379C5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rPr>
              <a:t>长 session 在前期将从 A 移动到 B：KV 尚小时提前切换，后续 KV 直接在 B 增长。</a:t>
            </a:r>
          </a:p>
        </p:txBody>
      </p:sp>
      <p:sp>
        <p:nvSpPr>
          <p:cNvPr id="19" name="s2-stage-node-0">
            <a:extLst xmlns:a="http://schemas.openxmlformats.org/drawingml/2006/main">
              <a:ext uri="{FF2B5EF4-FFF2-40B4-BE49-F238E27FC236}">
                <a16:creationId xmlns:a16="http://schemas.microsoft.com/office/drawing/2014/main" id="{1A2B71E3-9B17-4295-805E-506F1E3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9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s2-stage-0">
            <a:extLst xmlns:a="http://schemas.openxmlformats.org/drawingml/2006/main">
              <a:ext uri="{FF2B5EF4-FFF2-40B4-BE49-F238E27FC236}">
                <a16:creationId xmlns:a16="http://schemas.microsoft.com/office/drawing/2014/main" id="{1BB075A2-5D75-4D8A-B644-5711EE3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状态门槛高</a:t>
            </a:r>
          </a:p>
        </p:txBody>
      </p:sp>
      <p:sp>
        <p:nvSpPr>
          <p:cNvPr id="21" name="s2-stage-node-1">
            <a:extLst xmlns:a="http://schemas.openxmlformats.org/drawingml/2006/main">
              <a:ext uri="{FF2B5EF4-FFF2-40B4-BE49-F238E27FC236}">
                <a16:creationId xmlns:a16="http://schemas.microsoft.com/office/drawing/2014/main" id="{050A9214-9CC0-407C-B036-040EFC9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9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s2-stage-1">
            <a:extLst xmlns:a="http://schemas.openxmlformats.org/drawingml/2006/main">
              <a:ext uri="{FF2B5EF4-FFF2-40B4-BE49-F238E27FC236}">
                <a16:creationId xmlns:a16="http://schemas.microsoft.com/office/drawing/2014/main" id="{5F59BDA2-77B6-4677-AAC4-00D316F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53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后台逐步降低 residual</a:t>
            </a:r>
          </a:p>
        </p:txBody>
      </p:sp>
      <p:sp>
        <p:nvSpPr>
          <p:cNvPr id="23" name="s2-stage-node-2">
            <a:extLst xmlns:a="http://schemas.openxmlformats.org/drawingml/2006/main">
              <a:ext uri="{FF2B5EF4-FFF2-40B4-BE49-F238E27FC236}">
                <a16:creationId xmlns:a16="http://schemas.microsoft.com/office/drawing/2014/main" id="{50761653-4D24-4DEB-A4EB-9ED976C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9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s2-stage-2">
            <a:extLst xmlns:a="http://schemas.openxmlformats.org/drawingml/2006/main">
              <a:ext uri="{FF2B5EF4-FFF2-40B4-BE49-F238E27FC236}">
                <a16:creationId xmlns:a16="http://schemas.microsoft.com/office/drawing/2014/main" id="{157F5553-4831-4682-B2FC-063C5BD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长期收益变得可实现</a:t>
            </a:r>
          </a:p>
        </p:txBody>
      </p:sp>
      <p:sp>
        <p:nvSpPr>
          <p:cNvPr id="25" name="source-2">
            <a:extLst xmlns:a="http://schemas.openxmlformats.org/drawingml/2006/main">
              <a:ext uri="{FF2B5EF4-FFF2-40B4-BE49-F238E27FC236}">
                <a16:creationId xmlns:a16="http://schemas.microsoft.com/office/drawing/2014/main" id="{2791BC08-4F9D-42FB-8A93-B1E55A4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核心链路：单请求穷举 → KV Manager → Long-term Router</a:t>
            </a:r>
          </a:p>
        </p:txBody>
      </p:sp>
      <p:sp>
        <p:nvSpPr>
          <p:cNvPr id="26" name="page-2">
            <a:extLst xmlns:a="http://schemas.openxmlformats.org/drawingml/2006/main">
              <a:ext uri="{FF2B5EF4-FFF2-40B4-BE49-F238E27FC236}">
                <a16:creationId xmlns:a16="http://schemas.microsoft.com/office/drawing/2014/main" id="{1D9E0CF1-3713-4886-AB9C-30DD266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1763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3-title">
            <a:extLst xmlns:a="http://schemas.openxmlformats.org/drawingml/2006/main">
              <a:ext uri="{FF2B5EF4-FFF2-40B4-BE49-F238E27FC236}">
                <a16:creationId xmlns:a16="http://schemas.microsoft.com/office/drawing/2014/main" id="{8660E33C-9582-427B-989B-0A9A35B6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9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并发提高 50% 后，单请求穷举+KV 仍将平均 E2E 降低约 20%</a:t>
            </a:r>
          </a:p>
        </p:txBody>
      </p:sp>
      <p:sp>
        <p:nvSpPr>
          <p:cNvPr id="2" name="s3-setup">
            <a:extLst xmlns:a="http://schemas.openxmlformats.org/drawingml/2006/main">
              <a:ext uri="{FF2B5EF4-FFF2-40B4-BE49-F238E27FC236}">
                <a16:creationId xmlns:a16="http://schemas.microsoft.com/office/drawing/2014/main" id="{66608317-65F4-4D51-908A-EDD566F0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3-setup-head-0">
            <a:extLst xmlns:a="http://schemas.openxmlformats.org/drawingml/2006/main">
              <a:ext uri="{FF2B5EF4-FFF2-40B4-BE49-F238E27FC236}">
                <a16:creationId xmlns:a16="http://schemas.microsoft.com/office/drawing/2014/main" id="{4231BC0B-71BC-4AB6-9179-267A6F3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集群与链路</a:t>
            </a:r>
          </a:p>
        </p:txBody>
      </p:sp>
      <p:sp>
        <p:nvSpPr>
          <p:cNvPr id="4" name="s3-setup-body-0">
            <a:extLst xmlns:a="http://schemas.openxmlformats.org/drawingml/2006/main">
              <a:ext uri="{FF2B5EF4-FFF2-40B4-BE49-F238E27FC236}">
                <a16:creationId xmlns:a16="http://schemas.microsoft.com/office/drawing/2014/main" id="{9A3CED81-B2D6-4ED9-AF34-B8922355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3×A800T-A2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100/100/25 Gbps</a:t>
            </a:r>
          </a:p>
        </p:txBody>
      </p:sp>
      <p:sp>
        <p:nvSpPr>
          <p:cNvPr id="5" name="s3-setup-head-1">
            <a:extLst xmlns:a="http://schemas.openxmlformats.org/drawingml/2006/main">
              <a:ext uri="{FF2B5EF4-FFF2-40B4-BE49-F238E27FC236}">
                <a16:creationId xmlns:a16="http://schemas.microsoft.com/office/drawing/2014/main" id="{3228E473-5458-4EB8-B92C-CE254EDC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95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移动与重复</a:t>
            </a:r>
          </a:p>
        </p:txBody>
      </p:sp>
      <p:sp>
        <p:nvSpPr>
          <p:cNvPr id="6" name="s3-setup-body-1">
            <a:extLst xmlns:a="http://schemas.openxmlformats.org/drawingml/2006/main">
              <a:ext uri="{FF2B5EF4-FFF2-40B4-BE49-F238E27FC236}">
                <a16:creationId xmlns:a16="http://schemas.microsoft.com/office/drawing/2014/main" id="{3059B3FA-E669-4DC2-8C4D-0EBE7799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 s · 5 seeds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后半程 20% 转移</a:t>
            </a:r>
          </a:p>
        </p:txBody>
      </p:sp>
      <p:sp>
        <p:nvSpPr>
          <p:cNvPr id="7" name="s3-setup-head-2">
            <a:extLst xmlns:a="http://schemas.openxmlformats.org/drawingml/2006/main">
              <a:ext uri="{FF2B5EF4-FFF2-40B4-BE49-F238E27FC236}">
                <a16:creationId xmlns:a16="http://schemas.microsoft.com/office/drawing/2014/main" id="{A4A95685-64CE-4F18-8F7F-9B0757E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95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基础并发</a:t>
            </a:r>
          </a:p>
        </p:txBody>
      </p:sp>
      <p:sp>
        <p:nvSpPr>
          <p:cNvPr id="8" name="s3-setup-body-2">
            <a:extLst xmlns:a="http://schemas.openxmlformats.org/drawingml/2006/main">
              <a:ext uri="{FF2B5EF4-FFF2-40B4-BE49-F238E27FC236}">
                <a16:creationId xmlns:a16="http://schemas.microsoft.com/office/drawing/2014/main" id="{0733C052-49EC-47DD-A72C-CEA26062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Code 24/96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Qwen-VL 24</a:t>
            </a:r>
          </a:p>
        </p:txBody>
      </p:sp>
      <p:sp>
        <p:nvSpPr>
          <p:cNvPr id="9" name="s3-setup-head-3">
            <a:extLst xmlns:a="http://schemas.openxmlformats.org/drawingml/2006/main">
              <a:ext uri="{FF2B5EF4-FFF2-40B4-BE49-F238E27FC236}">
                <a16:creationId xmlns:a16="http://schemas.microsoft.com/office/drawing/2014/main" id="{2AA6B1DC-5BC9-46A5-A91E-663C388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95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150% 并发</a:t>
            </a:r>
          </a:p>
        </p:txBody>
      </p:sp>
      <p:sp>
        <p:nvSpPr>
          <p:cNvPr id="10" name="s3-setup-body-3">
            <a:extLst xmlns:a="http://schemas.openxmlformats.org/drawingml/2006/main">
              <a:ext uri="{FF2B5EF4-FFF2-40B4-BE49-F238E27FC236}">
                <a16:creationId xmlns:a16="http://schemas.microsoft.com/office/drawing/2014/main" id="{AFC2CC58-A0D5-4888-A52D-F372CF9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Code 36/144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Qwen-VL 36</a:t>
            </a:r>
          </a:p>
        </p:txBody>
      </p:sp>
      <p:sp>
        <p:nvSpPr>
          <p:cNvPr id="11" name="s3-chart-frame">
            <a:extLst xmlns:a="http://schemas.openxmlformats.org/drawingml/2006/main">
              <a:ext uri="{FF2B5EF4-FFF2-40B4-BE49-F238E27FC236}">
                <a16:creationId xmlns:a16="http://schemas.microsoft.com/office/drawing/2014/main" id="{0FB9299F-7F5D-4D4B-B4B6-06F7AA8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6191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3-chart-label">
            <a:extLst xmlns:a="http://schemas.openxmlformats.org/drawingml/2006/main">
              <a:ext uri="{FF2B5EF4-FFF2-40B4-BE49-F238E27FC236}">
                <a16:creationId xmlns:a16="http://schemas.microsoft.com/office/drawing/2014/main" id="{17642E11-05AE-46DB-AC1D-392797E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平均 E2E latency（ms）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47700" y="2914650"/>
          <a:ext xmlns:a="http://schemas.openxmlformats.org/drawingml/2006/main" cx="56769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faeced69174721"/>
          </a:graphicData>
        </a:graphic>
      </p:graphicFrame>
      <p:sp>
        <p:nvSpPr>
          <p:cNvPr id="14" name="s3-stat-0">
            <a:extLst xmlns:a="http://schemas.openxmlformats.org/drawingml/2006/main">
              <a:ext uri="{FF2B5EF4-FFF2-40B4-BE49-F238E27FC236}">
                <a16:creationId xmlns:a16="http://schemas.microsoft.com/office/drawing/2014/main" id="{58AD9F06-D4FB-4D9B-8EB6-D63A9AA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stat-title-0">
            <a:extLst xmlns:a="http://schemas.openxmlformats.org/drawingml/2006/main">
              <a:ext uri="{FF2B5EF4-FFF2-40B4-BE49-F238E27FC236}">
                <a16:creationId xmlns:a16="http://schemas.microsoft.com/office/drawing/2014/main" id="{E69A3B00-D58F-43F0-9BC5-93D7363C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平均 E2E</a:t>
            </a:r>
          </a:p>
        </p:txBody>
      </p:sp>
      <p:sp>
        <p:nvSpPr>
          <p:cNvPr id="16" name="s3-stat-value-0">
            <a:extLst xmlns:a="http://schemas.openxmlformats.org/drawingml/2006/main">
              <a:ext uri="{FF2B5EF4-FFF2-40B4-BE49-F238E27FC236}">
                <a16:creationId xmlns:a16="http://schemas.microsoft.com/office/drawing/2014/main" id="{EAA51EC1-0AEB-41AC-9982-6BDC9BC7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A80"/>
                </a:solidFill>
                <a:latin typeface="Microsoft YaHei"/>
                <a:ea typeface="Microsoft YaHei"/>
                <a:cs typeface="Microsoft YaHei"/>
              </a:rPr>
              <a:t>−19.65% / −23.37%</a:t>
            </a:r>
          </a:p>
        </p:txBody>
      </p:sp>
      <p:sp>
        <p:nvSpPr>
          <p:cNvPr id="17" name="s3-stat-note-0">
            <a:extLst xmlns:a="http://schemas.openxmlformats.org/drawingml/2006/main">
              <a:ext uri="{FF2B5EF4-FFF2-40B4-BE49-F238E27FC236}">
                <a16:creationId xmlns:a16="http://schemas.microsoft.com/office/drawing/2014/main" id="{03224089-5D3D-402D-A8B5-AB29504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CodeLlama / Qwen2-VL</a:t>
            </a:r>
          </a:p>
        </p:txBody>
      </p:sp>
      <p:sp>
        <p:nvSpPr>
          <p:cNvPr id="18" name="s3-stat-1">
            <a:extLst xmlns:a="http://schemas.openxmlformats.org/drawingml/2006/main">
              <a:ext uri="{FF2B5EF4-FFF2-40B4-BE49-F238E27FC236}">
                <a16:creationId xmlns:a16="http://schemas.microsoft.com/office/drawing/2014/main" id="{1DC89C69-207F-4985-BD70-AF7574B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385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stat-title-1">
            <a:extLst xmlns:a="http://schemas.openxmlformats.org/drawingml/2006/main">
              <a:ext uri="{FF2B5EF4-FFF2-40B4-BE49-F238E27FC236}">
                <a16:creationId xmlns:a16="http://schemas.microsoft.com/office/drawing/2014/main" id="{65F26593-47F8-4D55-A248-0BD95AF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P50 TTFT</a:t>
            </a:r>
          </a:p>
        </p:txBody>
      </p:sp>
      <p:sp>
        <p:nvSpPr>
          <p:cNvPr id="20" name="s3-stat-value-1">
            <a:extLst xmlns:a="http://schemas.openxmlformats.org/drawingml/2006/main">
              <a:ext uri="{FF2B5EF4-FFF2-40B4-BE49-F238E27FC236}">
                <a16:creationId xmlns:a16="http://schemas.microsoft.com/office/drawing/2014/main" id="{7E71F9BE-1BCC-448A-AD2E-AAD558C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−26.74% / −10.10%</a:t>
            </a:r>
          </a:p>
        </p:txBody>
      </p:sp>
      <p:sp>
        <p:nvSpPr>
          <p:cNvPr id="21" name="s3-stat-note-1">
            <a:extLst xmlns:a="http://schemas.openxmlformats.org/drawingml/2006/main">
              <a:ext uri="{FF2B5EF4-FFF2-40B4-BE49-F238E27FC236}">
                <a16:creationId xmlns:a16="http://schemas.microsoft.com/office/drawing/2014/main" id="{0DB0994C-A08C-45B8-B198-6E738090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910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CodeLlama / Qwen2-VL</a:t>
            </a:r>
          </a:p>
        </p:txBody>
      </p:sp>
      <p:sp>
        <p:nvSpPr>
          <p:cNvPr id="22" name="s3-stat-2">
            <a:extLst xmlns:a="http://schemas.openxmlformats.org/drawingml/2006/main">
              <a:ext uri="{FF2B5EF4-FFF2-40B4-BE49-F238E27FC236}">
                <a16:creationId xmlns:a16="http://schemas.microsoft.com/office/drawing/2014/main" id="{C480B02C-68FB-41EF-A15A-0049B00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815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3-stat-title-2">
            <a:extLst xmlns:a="http://schemas.openxmlformats.org/drawingml/2006/main">
              <a:ext uri="{FF2B5EF4-FFF2-40B4-BE49-F238E27FC236}">
                <a16:creationId xmlns:a16="http://schemas.microsoft.com/office/drawing/2014/main" id="{EC3EA58F-4CF4-4CD1-8329-712FC45C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33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SLA 违约率</a:t>
            </a:r>
          </a:p>
        </p:txBody>
      </p:sp>
      <p:sp>
        <p:nvSpPr>
          <p:cNvPr id="24" name="s3-stat-value-2">
            <a:extLst xmlns:a="http://schemas.openxmlformats.org/drawingml/2006/main">
              <a:ext uri="{FF2B5EF4-FFF2-40B4-BE49-F238E27FC236}">
                <a16:creationId xmlns:a16="http://schemas.microsoft.com/office/drawing/2014/main" id="{32EB8EDE-ADB7-4AD0-818D-F00F4EA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−89.83% / −98.56%</a:t>
            </a:r>
          </a:p>
        </p:txBody>
      </p:sp>
      <p:sp>
        <p:nvSpPr>
          <p:cNvPr id="25" name="s3-stat-note-2">
            <a:extLst xmlns:a="http://schemas.openxmlformats.org/drawingml/2006/main">
              <a:ext uri="{FF2B5EF4-FFF2-40B4-BE49-F238E27FC236}">
                <a16:creationId xmlns:a16="http://schemas.microsoft.com/office/drawing/2014/main" id="{0E2DD11F-9704-43B7-9EF0-7E8AB7F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340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CodeLlama / Qwen2-VL</a:t>
            </a:r>
          </a:p>
        </p:txBody>
      </p:sp>
      <p:sp>
        <p:nvSpPr>
          <p:cNvPr id="26" name="s3-conclusion">
            <a:extLst xmlns:a="http://schemas.openxmlformats.org/drawingml/2006/main">
              <a:ext uri="{FF2B5EF4-FFF2-40B4-BE49-F238E27FC236}">
                <a16:creationId xmlns:a16="http://schemas.microsoft.com/office/drawing/2014/main" id="{3430EE8B-921C-48A1-BF55-3E9B3F4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102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结论：在更高并发下，KV 状态准备与跨节点路由共同抵消了新增排队压力。</a:t>
            </a:r>
          </a:p>
        </p:txBody>
      </p:sp>
      <p:sp>
        <p:nvSpPr>
          <p:cNvPr id="27" name="source-3">
            <a:extLst xmlns:a="http://schemas.openxmlformats.org/drawingml/2006/main">
              <a:ext uri="{FF2B5EF4-FFF2-40B4-BE49-F238E27FC236}">
                <a16:creationId xmlns:a16="http://schemas.microsoft.com/office/drawing/2014/main" id="{27D2912F-C30D-4D6C-A1BC-3F89D5C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五个随机种子的均值；完整均值—最小/最大范围见第 6.4.8 节</a:t>
            </a:r>
          </a:p>
        </p:txBody>
      </p:sp>
      <p:sp>
        <p:nvSpPr>
          <p:cNvPr id="28" name="page-3">
            <a:extLst xmlns:a="http://schemas.openxmlformats.org/drawingml/2006/main">
              <a:ext uri="{FF2B5EF4-FFF2-40B4-BE49-F238E27FC236}">
                <a16:creationId xmlns:a16="http://schemas.microsoft.com/office/drawing/2014/main" id="{766DA949-E8CC-4755-9223-6266F2D5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5575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2026-07-16T15:49:20.5960000Z</dcterms:created>
  <dcterms:modified xsi:type="dcterms:W3CDTF">2026-07-16T15:49:20.5960000Z</dcterms:modified>
</coreProperties>
</file>